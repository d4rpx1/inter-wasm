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47"/>
  </p:normalViewPr>
  <p:slideViewPr>
    <p:cSldViewPr snapToGrid="0">
      <p:cViewPr varScale="1">
        <p:scale>
          <a:sx n="74" d="100"/>
          <a:sy n="74" d="100"/>
        </p:scale>
        <p:origin x="24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5" name="Shape 1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>
            <a:spLocks noGrp="1"/>
          </p:cNvSpPr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>
            <a:spLocks noGrp="1"/>
          </p:cNvSpPr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>
            <a:spLocks noGrp="1"/>
          </p:cNvSpPr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8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andy path between two hills leading to the ocean"/>
          <p:cNvSpPr>
            <a:spLocks noGrp="1"/>
          </p:cNvSpPr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2" name="Heron flying low over a beach with a short fence in the foreground"/>
          <p:cNvSpPr>
            <a:spLocks noGrp="1"/>
          </p:cNvSpPr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View of beach and sea from a grassy sand dune"/>
          <p:cNvSpPr>
            <a:spLocks noGrp="1"/>
          </p:cNvSpPr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112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1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View of beach and sea from a grassy sand dune"/>
          <p:cNvSpPr>
            <a:spLocks noGrp="1"/>
          </p:cNvSpPr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InterWasm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InterWasm</a:t>
            </a:r>
          </a:p>
        </p:txBody>
      </p:sp>
      <p:sp>
        <p:nvSpPr>
          <p:cNvPr id="138" name="An Interpreter for a Subset of WebAssembly written in Java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An Interpreter for a Subset of WebAssembly written in Java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WebAssembl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WebAssembly</a:t>
            </a:r>
          </a:p>
        </p:txBody>
      </p:sp>
      <p:sp>
        <p:nvSpPr>
          <p:cNvPr id="141" name="WebAssembly (abbreviated Wasm) is a binary instruction format for a stack-based virtual machine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WebAssembly (abbreviated Wasm) is a binary instruction format for a stack-based virtual machine.</a:t>
            </a:r>
          </a:p>
          <a:p>
            <a:r>
              <a:t>Wasm enables deployment of native applications (written in C, C++ or Rust) on web clients or servers</a:t>
            </a:r>
          </a:p>
          <a:p>
            <a:r>
              <a:t>Wasm aims execution of programs at near-native speed</a:t>
            </a:r>
          </a:p>
          <a:p>
            <a:r>
              <a:t>Wasm has a text format and a binary format </a:t>
            </a:r>
          </a:p>
        </p:txBody>
      </p:sp>
      <p:pic>
        <p:nvPicPr>
          <p:cNvPr id="142" name="WebAssembly-Logo.wine.svg" descr="WebAssembly-Logo.wine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0933" y="-396663"/>
            <a:ext cx="7703565" cy="51357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281" y="5724748"/>
            <a:ext cx="14287065" cy="7328736"/>
          </a:xfrm>
          <a:prstGeom prst="rect">
            <a:avLst/>
          </a:prstGeom>
          <a:ln w="12700">
            <a:miter lim="400000"/>
          </a:ln>
        </p:spPr>
      </p:pic>
      <p:sp>
        <p:nvSpPr>
          <p:cNvPr id="145" name="wat - WebAssembly Text Format"/>
          <p:cNvSpPr txBox="1">
            <a:spLocks noGrp="1"/>
          </p:cNvSpPr>
          <p:nvPr>
            <p:ph type="title"/>
          </p:nvPr>
        </p:nvSpPr>
        <p:spPr>
          <a:xfrm>
            <a:off x="451813" y="221946"/>
            <a:ext cx="23246991" cy="2286000"/>
          </a:xfrm>
          <a:prstGeom prst="rect">
            <a:avLst/>
          </a:prstGeom>
        </p:spPr>
        <p:txBody>
          <a:bodyPr/>
          <a:lstStyle>
            <a:lvl1pPr defTabSz="808990">
              <a:defRPr sz="10976"/>
            </a:lvl1pPr>
          </a:lstStyle>
          <a:p>
            <a:r>
              <a:t>wat - WebAssembly Text Format</a:t>
            </a:r>
          </a:p>
        </p:txBody>
      </p:sp>
      <p:sp>
        <p:nvSpPr>
          <p:cNvPr id="146" name="Example Wasm module with one function"/>
          <p:cNvSpPr txBox="1"/>
          <p:nvPr/>
        </p:nvSpPr>
        <p:spPr>
          <a:xfrm>
            <a:off x="6494525" y="2452109"/>
            <a:ext cx="1139494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Example Wasm module with one function</a:t>
            </a:r>
          </a:p>
        </p:txBody>
      </p:sp>
      <p:sp>
        <p:nvSpPr>
          <p:cNvPr id="147" name="Function Type (Type Section)"/>
          <p:cNvSpPr txBox="1"/>
          <p:nvPr/>
        </p:nvSpPr>
        <p:spPr>
          <a:xfrm>
            <a:off x="5775524" y="3927802"/>
            <a:ext cx="6299785" cy="659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800"/>
            </a:lvl1pPr>
          </a:lstStyle>
          <a:p>
            <a:r>
              <a:t>Function Type (Type Section)</a:t>
            </a:r>
          </a:p>
        </p:txBody>
      </p:sp>
      <p:sp>
        <p:nvSpPr>
          <p:cNvPr id="148" name="Arrow"/>
          <p:cNvSpPr/>
          <p:nvPr/>
        </p:nvSpPr>
        <p:spPr>
          <a:xfrm rot="5400000">
            <a:off x="8226916" y="5086313"/>
            <a:ext cx="1651001" cy="1016001"/>
          </a:xfrm>
          <a:prstGeom prst="rightArrow">
            <a:avLst>
              <a:gd name="adj1" fmla="val 32000"/>
              <a:gd name="adj2" fmla="val 8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9" name="Rounded Rectangle"/>
          <p:cNvSpPr/>
          <p:nvPr/>
        </p:nvSpPr>
        <p:spPr>
          <a:xfrm>
            <a:off x="8876568" y="7059270"/>
            <a:ext cx="12647499" cy="566617"/>
          </a:xfrm>
          <a:prstGeom prst="roundRect">
            <a:avLst>
              <a:gd name="adj" fmla="val 32604"/>
            </a:avLst>
          </a:prstGeom>
          <a:ln w="88900">
            <a:solidFill>
              <a:schemeClr val="accent1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0" name="Function Body (Code Section)"/>
          <p:cNvSpPr txBox="1"/>
          <p:nvPr/>
        </p:nvSpPr>
        <p:spPr>
          <a:xfrm>
            <a:off x="202407" y="7668822"/>
            <a:ext cx="6585484" cy="659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800"/>
            </a:lvl1pPr>
          </a:lstStyle>
          <a:p>
            <a:r>
              <a:t>Function Body (Code Section)</a:t>
            </a:r>
          </a:p>
        </p:txBody>
      </p:sp>
      <p:sp>
        <p:nvSpPr>
          <p:cNvPr id="151" name="Arrow"/>
          <p:cNvSpPr/>
          <p:nvPr/>
        </p:nvSpPr>
        <p:spPr>
          <a:xfrm>
            <a:off x="6886392" y="7490616"/>
            <a:ext cx="1651001" cy="1016001"/>
          </a:xfrm>
          <a:prstGeom prst="rightArrow">
            <a:avLst>
              <a:gd name="adj1" fmla="val 32000"/>
              <a:gd name="adj2" fmla="val 80000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2" name="Rounded Rectangle"/>
          <p:cNvSpPr/>
          <p:nvPr/>
        </p:nvSpPr>
        <p:spPr>
          <a:xfrm>
            <a:off x="9220482" y="7896210"/>
            <a:ext cx="2753925" cy="5141230"/>
          </a:xfrm>
          <a:prstGeom prst="roundRect">
            <a:avLst>
              <a:gd name="adj" fmla="val 6708"/>
            </a:avLst>
          </a:prstGeom>
          <a:ln w="88900">
            <a:solidFill>
              <a:schemeClr val="accent3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pasted-movie.png" descr="pasted-movie.png"/>
          <p:cNvPicPr>
            <a:picLocks noChangeAspect="1"/>
          </p:cNvPicPr>
          <p:nvPr/>
        </p:nvPicPr>
        <p:blipFill>
          <a:blip r:embed="rId2"/>
          <a:srcRect b="70201"/>
          <a:stretch>
            <a:fillRect/>
          </a:stretch>
        </p:blipFill>
        <p:spPr>
          <a:xfrm>
            <a:off x="4283670" y="7038951"/>
            <a:ext cx="15816466" cy="2417627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wat - WebAssembly Text Format"/>
          <p:cNvSpPr txBox="1">
            <a:spLocks noGrp="1"/>
          </p:cNvSpPr>
          <p:nvPr>
            <p:ph type="title"/>
          </p:nvPr>
        </p:nvSpPr>
        <p:spPr>
          <a:xfrm>
            <a:off x="0" y="355600"/>
            <a:ext cx="24384000" cy="2286000"/>
          </a:xfrm>
          <a:prstGeom prst="rect">
            <a:avLst/>
          </a:prstGeom>
        </p:spPr>
        <p:txBody>
          <a:bodyPr/>
          <a:lstStyle>
            <a:lvl1pPr defTabSz="808990">
              <a:defRPr sz="10976"/>
            </a:lvl1pPr>
          </a:lstStyle>
          <a:p>
            <a:r>
              <a:t>wat - WebAssembly Text Format</a:t>
            </a:r>
          </a:p>
        </p:txBody>
      </p:sp>
      <p:sp>
        <p:nvSpPr>
          <p:cNvPr id="156" name="Function Type"/>
          <p:cNvSpPr txBox="1"/>
          <p:nvPr/>
        </p:nvSpPr>
        <p:spPr>
          <a:xfrm>
            <a:off x="10226497" y="2455946"/>
            <a:ext cx="3931006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Function Type</a:t>
            </a:r>
          </a:p>
        </p:txBody>
      </p:sp>
      <p:sp>
        <p:nvSpPr>
          <p:cNvPr id="157" name="Arrow"/>
          <p:cNvSpPr/>
          <p:nvPr/>
        </p:nvSpPr>
        <p:spPr>
          <a:xfrm rot="5400000">
            <a:off x="13655745" y="6677897"/>
            <a:ext cx="1651001" cy="1016001"/>
          </a:xfrm>
          <a:prstGeom prst="rightArrow">
            <a:avLst>
              <a:gd name="adj1" fmla="val 32000"/>
              <a:gd name="adj2" fmla="val 8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8" name="Rounded Rectangle"/>
          <p:cNvSpPr/>
          <p:nvPr/>
        </p:nvSpPr>
        <p:spPr>
          <a:xfrm>
            <a:off x="13016663" y="8563644"/>
            <a:ext cx="3586523" cy="566617"/>
          </a:xfrm>
          <a:prstGeom prst="roundRect">
            <a:avLst>
              <a:gd name="adj" fmla="val 32604"/>
            </a:avLst>
          </a:prstGeom>
          <a:ln w="88900">
            <a:solidFill>
              <a:schemeClr val="accent1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9" name="Parameter definition"/>
          <p:cNvSpPr txBox="1"/>
          <p:nvPr/>
        </p:nvSpPr>
        <p:spPr>
          <a:xfrm>
            <a:off x="12252154" y="5250603"/>
            <a:ext cx="4458184" cy="659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800"/>
            </a:lvl1pPr>
          </a:lstStyle>
          <a:p>
            <a:r>
              <a:t>Parameter definition</a:t>
            </a:r>
          </a:p>
        </p:txBody>
      </p:sp>
      <p:sp>
        <p:nvSpPr>
          <p:cNvPr id="160" name="Rounded Rectangle"/>
          <p:cNvSpPr/>
          <p:nvPr/>
        </p:nvSpPr>
        <p:spPr>
          <a:xfrm>
            <a:off x="16698749" y="8487186"/>
            <a:ext cx="2753925" cy="719533"/>
          </a:xfrm>
          <a:prstGeom prst="roundRect">
            <a:avLst>
              <a:gd name="adj" fmla="val 25675"/>
            </a:avLst>
          </a:prstGeom>
          <a:ln w="88900">
            <a:solidFill>
              <a:schemeClr val="accent3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1" name="Definition of return values"/>
          <p:cNvSpPr txBox="1"/>
          <p:nvPr/>
        </p:nvSpPr>
        <p:spPr>
          <a:xfrm>
            <a:off x="15846619" y="11348563"/>
            <a:ext cx="5611115" cy="659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800"/>
            </a:lvl1pPr>
          </a:lstStyle>
          <a:p>
            <a:r>
              <a:t>Definition of return values</a:t>
            </a:r>
          </a:p>
        </p:txBody>
      </p:sp>
      <p:sp>
        <p:nvSpPr>
          <p:cNvPr id="162" name="Arrow"/>
          <p:cNvSpPr/>
          <p:nvPr/>
        </p:nvSpPr>
        <p:spPr>
          <a:xfrm rot="16200000">
            <a:off x="17250211" y="9791865"/>
            <a:ext cx="1651001" cy="1016001"/>
          </a:xfrm>
          <a:prstGeom prst="rightArrow">
            <a:avLst>
              <a:gd name="adj1" fmla="val 32000"/>
              <a:gd name="adj2" fmla="val 8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asted-movie.png" descr="pasted-movie.png"/>
          <p:cNvPicPr>
            <a:picLocks noChangeAspect="1"/>
          </p:cNvPicPr>
          <p:nvPr/>
        </p:nvPicPr>
        <p:blipFill>
          <a:blip r:embed="rId2"/>
          <a:srcRect t="27914" r="63136"/>
          <a:stretch>
            <a:fillRect/>
          </a:stretch>
        </p:blipFill>
        <p:spPr>
          <a:xfrm>
            <a:off x="7597281" y="5346511"/>
            <a:ext cx="7683245" cy="7706973"/>
          </a:xfrm>
          <a:prstGeom prst="rect">
            <a:avLst/>
          </a:prstGeom>
          <a:ln w="12700">
            <a:miter lim="400000"/>
          </a:ln>
        </p:spPr>
      </p:pic>
      <p:sp>
        <p:nvSpPr>
          <p:cNvPr id="166" name="Function body"/>
          <p:cNvSpPr txBox="1"/>
          <p:nvPr/>
        </p:nvSpPr>
        <p:spPr>
          <a:xfrm>
            <a:off x="10175595" y="2499552"/>
            <a:ext cx="403281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Function body</a:t>
            </a:r>
          </a:p>
        </p:txBody>
      </p:sp>
      <p:sp>
        <p:nvSpPr>
          <p:cNvPr id="167" name="Definition of Locals"/>
          <p:cNvSpPr txBox="1"/>
          <p:nvPr/>
        </p:nvSpPr>
        <p:spPr>
          <a:xfrm>
            <a:off x="978968" y="5846425"/>
            <a:ext cx="4243426" cy="659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800"/>
            </a:lvl1pPr>
          </a:lstStyle>
          <a:p>
            <a:r>
              <a:t>Definition of Locals</a:t>
            </a:r>
          </a:p>
        </p:txBody>
      </p:sp>
      <p:sp>
        <p:nvSpPr>
          <p:cNvPr id="168" name="Rounded Rectangle"/>
          <p:cNvSpPr/>
          <p:nvPr/>
        </p:nvSpPr>
        <p:spPr>
          <a:xfrm>
            <a:off x="9932976" y="5729242"/>
            <a:ext cx="4157640" cy="719533"/>
          </a:xfrm>
          <a:prstGeom prst="roundRect">
            <a:avLst>
              <a:gd name="adj" fmla="val 25675"/>
            </a:avLst>
          </a:prstGeom>
          <a:ln w="88900">
            <a:solidFill>
              <a:schemeClr val="accent1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9" name="Instructions"/>
          <p:cNvSpPr txBox="1"/>
          <p:nvPr/>
        </p:nvSpPr>
        <p:spPr>
          <a:xfrm>
            <a:off x="1009100" y="7668822"/>
            <a:ext cx="2634921" cy="659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800"/>
            </a:lvl1pPr>
          </a:lstStyle>
          <a:p>
            <a:r>
              <a:t>Instructions</a:t>
            </a:r>
          </a:p>
        </p:txBody>
      </p:sp>
      <p:sp>
        <p:nvSpPr>
          <p:cNvPr id="170" name="Arrow"/>
          <p:cNvSpPr/>
          <p:nvPr/>
        </p:nvSpPr>
        <p:spPr>
          <a:xfrm>
            <a:off x="6620947" y="7490616"/>
            <a:ext cx="1651001" cy="1016001"/>
          </a:xfrm>
          <a:prstGeom prst="rightArrow">
            <a:avLst>
              <a:gd name="adj1" fmla="val 32000"/>
              <a:gd name="adj2" fmla="val 80000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71" name="Rounded Rectangle"/>
          <p:cNvSpPr/>
          <p:nvPr/>
        </p:nvSpPr>
        <p:spPr>
          <a:xfrm>
            <a:off x="10061870" y="6936899"/>
            <a:ext cx="3899851" cy="6151896"/>
          </a:xfrm>
          <a:prstGeom prst="roundRect">
            <a:avLst>
              <a:gd name="adj" fmla="val 5668"/>
            </a:avLst>
          </a:prstGeom>
          <a:ln w="88900">
            <a:solidFill>
              <a:schemeClr val="accent3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72" name="Arrow"/>
          <p:cNvSpPr/>
          <p:nvPr/>
        </p:nvSpPr>
        <p:spPr>
          <a:xfrm>
            <a:off x="6620947" y="5668218"/>
            <a:ext cx="1651001" cy="1016001"/>
          </a:xfrm>
          <a:prstGeom prst="rightArrow">
            <a:avLst>
              <a:gd name="adj1" fmla="val 32000"/>
              <a:gd name="adj2" fmla="val 8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" name="wat - WebAssembly Text Format">
            <a:extLst>
              <a:ext uri="{FF2B5EF4-FFF2-40B4-BE49-F238E27FC236}">
                <a16:creationId xmlns:a16="http://schemas.microsoft.com/office/drawing/2014/main" id="{D64CB570-EB4F-4D07-403F-0F1FC4C51F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5600"/>
            <a:ext cx="24384000" cy="2286000"/>
          </a:xfrm>
          <a:prstGeom prst="rect">
            <a:avLst/>
          </a:prstGeom>
        </p:spPr>
        <p:txBody>
          <a:bodyPr/>
          <a:lstStyle>
            <a:lvl1pPr defTabSz="808990">
              <a:defRPr sz="10976"/>
            </a:lvl1pPr>
          </a:lstStyle>
          <a:p>
            <a:r>
              <a:t>wat - WebAssembly Text Format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WebAssembly Basic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WebAssembly Basics</a:t>
            </a:r>
          </a:p>
        </p:txBody>
      </p:sp>
      <p:sp>
        <p:nvSpPr>
          <p:cNvPr id="175" name="Function arguments are stored as locals…"/>
          <p:cNvSpPr txBox="1">
            <a:spLocks noGrp="1"/>
          </p:cNvSpPr>
          <p:nvPr>
            <p:ph type="body" idx="1"/>
          </p:nvPr>
        </p:nvSpPr>
        <p:spPr>
          <a:xfrm>
            <a:off x="1689099" y="3098800"/>
            <a:ext cx="21005801" cy="9296401"/>
          </a:xfrm>
          <a:prstGeom prst="rect">
            <a:avLst/>
          </a:prstGeom>
        </p:spPr>
        <p:txBody>
          <a:bodyPr/>
          <a:lstStyle/>
          <a:p>
            <a:pPr marL="425450" indent="-425450" defTabSz="553084">
              <a:spcBef>
                <a:spcPts val="3900"/>
              </a:spcBef>
              <a:defRPr sz="3216"/>
            </a:pPr>
            <a:r>
              <a:t>Function arguments are stored as locals</a:t>
            </a:r>
          </a:p>
          <a:p>
            <a:pPr marL="425450" indent="-425450" defTabSz="553084">
              <a:spcBef>
                <a:spcPts val="3900"/>
              </a:spcBef>
              <a:defRPr sz="3216"/>
            </a:pPr>
            <a:r>
              <a:t>A function can have multiple return values</a:t>
            </a:r>
          </a:p>
          <a:p>
            <a:pPr marL="425450" indent="-425450" defTabSz="553084">
              <a:spcBef>
                <a:spcPts val="3900"/>
              </a:spcBef>
              <a:defRPr sz="3216"/>
            </a:pPr>
            <a:r>
              <a:t>Data Types</a:t>
            </a:r>
          </a:p>
          <a:p>
            <a:pPr marL="850900" lvl="1" indent="-425450" defTabSz="553084">
              <a:spcBef>
                <a:spcPts val="600"/>
              </a:spcBef>
              <a:defRPr sz="3216"/>
            </a:pPr>
            <a:r>
              <a:t>i32 - 32-bit integer</a:t>
            </a:r>
          </a:p>
          <a:p>
            <a:pPr marL="850900" lvl="1" indent="-425450" defTabSz="553084">
              <a:spcBef>
                <a:spcPts val="600"/>
              </a:spcBef>
              <a:defRPr sz="3216"/>
            </a:pPr>
            <a:r>
              <a:t>i64 - 64- bit integer</a:t>
            </a:r>
          </a:p>
          <a:p>
            <a:pPr marL="850900" lvl="1" indent="-425450" defTabSz="553084">
              <a:spcBef>
                <a:spcPts val="600"/>
              </a:spcBef>
              <a:defRPr sz="3216"/>
            </a:pPr>
            <a:r>
              <a:t>f32 - 32-bit float</a:t>
            </a:r>
          </a:p>
          <a:p>
            <a:pPr marL="850900" lvl="1" indent="-425450" defTabSz="553084">
              <a:spcBef>
                <a:spcPts val="600"/>
              </a:spcBef>
              <a:defRPr sz="3216"/>
            </a:pPr>
            <a:r>
              <a:t>f64 - 64-bit float</a:t>
            </a:r>
          </a:p>
          <a:p>
            <a:pPr marL="850900" lvl="1" indent="-425450" defTabSz="553084">
              <a:spcBef>
                <a:spcPts val="600"/>
              </a:spcBef>
              <a:defRPr sz="3216"/>
            </a:pPr>
            <a:r>
              <a:t>funcref - reference to other function</a:t>
            </a:r>
          </a:p>
          <a:p>
            <a:pPr marL="850900" lvl="1" indent="-425450" defTabSz="553084">
              <a:spcBef>
                <a:spcPts val="600"/>
              </a:spcBef>
              <a:defRPr sz="3216"/>
            </a:pPr>
            <a:r>
              <a:t>externref - reference to external value</a:t>
            </a:r>
          </a:p>
          <a:p>
            <a:pPr marL="425450" indent="-425450" defTabSz="553084">
              <a:spcBef>
                <a:spcPts val="3900"/>
              </a:spcBef>
              <a:defRPr sz="3216"/>
            </a:pPr>
            <a:r>
              <a:t>WebAssembly is based on multiple stack-like structures</a:t>
            </a:r>
          </a:p>
          <a:p>
            <a:pPr marL="850900" lvl="1" indent="-425450" defTabSz="553084">
              <a:spcBef>
                <a:spcPts val="600"/>
              </a:spcBef>
              <a:defRPr sz="3216"/>
            </a:pPr>
            <a:r>
              <a:t>Operand Stack: Typed stack for operations (where all data types can be stored e.x. i32, f64, …)</a:t>
            </a:r>
          </a:p>
          <a:p>
            <a:pPr marL="850900" lvl="1" indent="-425450" defTabSz="553084">
              <a:spcBef>
                <a:spcPts val="600"/>
              </a:spcBef>
              <a:defRPr sz="3216"/>
            </a:pPr>
            <a:r>
              <a:t>Call Stack: Function calls create frames containing locals, parameters, return addresses, and so on.</a:t>
            </a:r>
          </a:p>
          <a:p>
            <a:pPr marL="850900" lvl="1" indent="-425450" defTabSz="553084">
              <a:spcBef>
                <a:spcPts val="600"/>
              </a:spcBef>
              <a:defRPr sz="3216"/>
            </a:pPr>
            <a:r>
              <a:t>Control Stack: Blocks, loops, and ifs have structured control frames, where input/output types are validated</a:t>
            </a:r>
          </a:p>
        </p:txBody>
      </p:sp>
      <p:pic>
        <p:nvPicPr>
          <p:cNvPr id="176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692" y="2920884"/>
            <a:ext cx="12156057" cy="615667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wasm - WebAssembly Byteco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08990">
              <a:defRPr sz="10976"/>
            </a:lvl1pPr>
          </a:lstStyle>
          <a:p>
            <a:r>
              <a:t>wasm - WebAssembly Bytecode</a:t>
            </a:r>
          </a:p>
        </p:txBody>
      </p:sp>
      <p:sp>
        <p:nvSpPr>
          <p:cNvPr id="179" name="The WebAssebly Bytecod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WebAssebly Bytecode </a:t>
            </a:r>
          </a:p>
          <a:p>
            <a:pPr lvl="1"/>
            <a:r>
              <a:t>starts with the magic bytes 0061 736d 0100 0000 (.asm….)</a:t>
            </a:r>
          </a:p>
          <a:p>
            <a:pPr lvl="1"/>
            <a:r>
              <a:t>is structured in up to 13 sections. Relevant for our interpreter:</a:t>
            </a:r>
          </a:p>
          <a:p>
            <a:pPr lvl="2"/>
            <a:r>
              <a:t>Type Section (ID 1) - contains the function type for all functions</a:t>
            </a:r>
          </a:p>
          <a:p>
            <a:pPr lvl="2"/>
            <a:r>
              <a:t>Code Section (ID 10) - contains the function body for all functions</a:t>
            </a:r>
          </a:p>
          <a:p>
            <a:r>
              <a:t>The ordering of the entries in the Type and Code section are used for mapping, e.x. function type 0 has function body 0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wasm- WebAssembly Byteco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wasm- WebAssembly Bytecode</a:t>
            </a:r>
          </a:p>
        </p:txBody>
      </p:sp>
      <p:pic>
        <p:nvPicPr>
          <p:cNvPr id="182" name="pasted-movie.png" descr="pasted-movie.png"/>
          <p:cNvPicPr>
            <a:picLocks noChangeAspect="1"/>
          </p:cNvPicPr>
          <p:nvPr/>
        </p:nvPicPr>
        <p:blipFill>
          <a:blip r:embed="rId2"/>
          <a:srcRect b="29543"/>
          <a:stretch>
            <a:fillRect/>
          </a:stretch>
        </p:blipFill>
        <p:spPr>
          <a:xfrm>
            <a:off x="6917005" y="4342889"/>
            <a:ext cx="14037780" cy="8395234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Bytecode of the shown example module"/>
          <p:cNvSpPr txBox="1"/>
          <p:nvPr/>
        </p:nvSpPr>
        <p:spPr>
          <a:xfrm>
            <a:off x="6960406" y="2434144"/>
            <a:ext cx="1110051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Bytecode of the shown example module</a:t>
            </a:r>
          </a:p>
        </p:txBody>
      </p:sp>
      <p:sp>
        <p:nvSpPr>
          <p:cNvPr id="184" name="Arrow"/>
          <p:cNvSpPr/>
          <p:nvPr/>
        </p:nvSpPr>
        <p:spPr>
          <a:xfrm>
            <a:off x="4357299" y="4227284"/>
            <a:ext cx="1651001" cy="1016001"/>
          </a:xfrm>
          <a:prstGeom prst="rightArrow">
            <a:avLst>
              <a:gd name="adj1" fmla="val 32000"/>
              <a:gd name="adj2" fmla="val 80000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85" name="Rounded Rectangle"/>
          <p:cNvSpPr/>
          <p:nvPr/>
        </p:nvSpPr>
        <p:spPr>
          <a:xfrm>
            <a:off x="6836767" y="4271734"/>
            <a:ext cx="3760759" cy="927101"/>
          </a:xfrm>
          <a:prstGeom prst="roundRect">
            <a:avLst>
              <a:gd name="adj" fmla="val 19927"/>
            </a:avLst>
          </a:prstGeom>
          <a:ln w="88900">
            <a:solidFill>
              <a:schemeClr val="accent3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86" name="Magic Bytes"/>
          <p:cNvSpPr txBox="1"/>
          <p:nvPr/>
        </p:nvSpPr>
        <p:spPr>
          <a:xfrm>
            <a:off x="652967" y="4405490"/>
            <a:ext cx="2795627" cy="659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800"/>
            </a:lvl1pPr>
          </a:lstStyle>
          <a:p>
            <a:r>
              <a:t>Magic Bytes</a:t>
            </a:r>
          </a:p>
        </p:txBody>
      </p:sp>
      <p:sp>
        <p:nvSpPr>
          <p:cNvPr id="187" name="Type Section"/>
          <p:cNvSpPr txBox="1"/>
          <p:nvPr/>
        </p:nvSpPr>
        <p:spPr>
          <a:xfrm>
            <a:off x="603742" y="5775234"/>
            <a:ext cx="2894077" cy="659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800"/>
            </a:lvl1pPr>
          </a:lstStyle>
          <a:p>
            <a:r>
              <a:t>Type Section</a:t>
            </a:r>
          </a:p>
        </p:txBody>
      </p:sp>
      <p:sp>
        <p:nvSpPr>
          <p:cNvPr id="188" name="Arrow"/>
          <p:cNvSpPr/>
          <p:nvPr/>
        </p:nvSpPr>
        <p:spPr>
          <a:xfrm>
            <a:off x="4381912" y="5597028"/>
            <a:ext cx="1651001" cy="1016001"/>
          </a:xfrm>
          <a:prstGeom prst="rightArrow">
            <a:avLst>
              <a:gd name="adj1" fmla="val 32000"/>
              <a:gd name="adj2" fmla="val 8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89" name="Rounded Rectangle"/>
          <p:cNvSpPr/>
          <p:nvPr/>
        </p:nvSpPr>
        <p:spPr>
          <a:xfrm>
            <a:off x="6836767" y="5183625"/>
            <a:ext cx="3855549" cy="4186323"/>
          </a:xfrm>
          <a:prstGeom prst="roundRect">
            <a:avLst>
              <a:gd name="adj" fmla="val 4912"/>
            </a:avLst>
          </a:prstGeom>
          <a:ln w="88900">
            <a:solidFill>
              <a:schemeClr val="accent1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90" name="…"/>
          <p:cNvSpPr txBox="1"/>
          <p:nvPr/>
        </p:nvSpPr>
        <p:spPr>
          <a:xfrm>
            <a:off x="647347" y="9303428"/>
            <a:ext cx="596901" cy="659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800"/>
            </a:lvl1pPr>
          </a:lstStyle>
          <a:p>
            <a:r>
              <a:t>…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wasm- WebAssembly Byteco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wasm- WebAssembly Bytecode</a:t>
            </a:r>
          </a:p>
        </p:txBody>
      </p:sp>
      <p:sp>
        <p:nvSpPr>
          <p:cNvPr id="193" name="Bytecode of the code section"/>
          <p:cNvSpPr txBox="1"/>
          <p:nvPr/>
        </p:nvSpPr>
        <p:spPr>
          <a:xfrm>
            <a:off x="8041995" y="2412341"/>
            <a:ext cx="8300010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Bytecode of the code section </a:t>
            </a:r>
          </a:p>
        </p:txBody>
      </p:sp>
      <p:pic>
        <p:nvPicPr>
          <p:cNvPr id="194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3893" y="3582290"/>
            <a:ext cx="15532259" cy="9515038"/>
          </a:xfrm>
          <a:prstGeom prst="rect">
            <a:avLst/>
          </a:prstGeom>
          <a:ln w="12700">
            <a:miter lim="400000"/>
          </a:ln>
        </p:spPr>
      </p:pic>
      <p:sp>
        <p:nvSpPr>
          <p:cNvPr id="195" name="Arrow"/>
          <p:cNvSpPr/>
          <p:nvPr/>
        </p:nvSpPr>
        <p:spPr>
          <a:xfrm>
            <a:off x="4575324" y="3704023"/>
            <a:ext cx="1651001" cy="1016001"/>
          </a:xfrm>
          <a:prstGeom prst="rightArrow">
            <a:avLst>
              <a:gd name="adj1" fmla="val 32000"/>
              <a:gd name="adj2" fmla="val 80000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96" name="Rounded Rectangle"/>
          <p:cNvSpPr/>
          <p:nvPr/>
        </p:nvSpPr>
        <p:spPr>
          <a:xfrm>
            <a:off x="7251015" y="4010103"/>
            <a:ext cx="3666481" cy="403841"/>
          </a:xfrm>
          <a:prstGeom prst="roundRect">
            <a:avLst>
              <a:gd name="adj" fmla="val 44599"/>
            </a:avLst>
          </a:prstGeom>
          <a:ln w="88900">
            <a:solidFill>
              <a:schemeClr val="accent3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97" name="Section ID"/>
          <p:cNvSpPr txBox="1"/>
          <p:nvPr/>
        </p:nvSpPr>
        <p:spPr>
          <a:xfrm>
            <a:off x="936400" y="3882229"/>
            <a:ext cx="2348739" cy="659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800"/>
            </a:lvl1pPr>
          </a:lstStyle>
          <a:p>
            <a:r>
              <a:t>Section ID</a:t>
            </a:r>
          </a:p>
        </p:txBody>
      </p:sp>
      <p:sp>
        <p:nvSpPr>
          <p:cNvPr id="198" name="Amount Functions"/>
          <p:cNvSpPr txBox="1"/>
          <p:nvPr/>
        </p:nvSpPr>
        <p:spPr>
          <a:xfrm>
            <a:off x="82198" y="4772318"/>
            <a:ext cx="4057143" cy="659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800"/>
            </a:lvl1pPr>
          </a:lstStyle>
          <a:p>
            <a:r>
              <a:t>Amount Functions</a:t>
            </a:r>
          </a:p>
        </p:txBody>
      </p:sp>
      <p:sp>
        <p:nvSpPr>
          <p:cNvPr id="199" name="Arrow"/>
          <p:cNvSpPr/>
          <p:nvPr/>
        </p:nvSpPr>
        <p:spPr>
          <a:xfrm>
            <a:off x="4575324" y="4441494"/>
            <a:ext cx="1651001" cy="1016001"/>
          </a:xfrm>
          <a:prstGeom prst="rightArrow">
            <a:avLst>
              <a:gd name="adj1" fmla="val 32000"/>
              <a:gd name="adj2" fmla="val 8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00" name="Rounded Rectangle"/>
          <p:cNvSpPr/>
          <p:nvPr/>
        </p:nvSpPr>
        <p:spPr>
          <a:xfrm>
            <a:off x="7185762" y="4812827"/>
            <a:ext cx="3666480" cy="403841"/>
          </a:xfrm>
          <a:prstGeom prst="roundRect">
            <a:avLst>
              <a:gd name="adj" fmla="val 44599"/>
            </a:avLst>
          </a:prstGeom>
          <a:ln w="88900">
            <a:solidFill>
              <a:schemeClr val="accent1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01" name="Amount Local Types"/>
          <p:cNvSpPr txBox="1"/>
          <p:nvPr/>
        </p:nvSpPr>
        <p:spPr>
          <a:xfrm>
            <a:off x="82198" y="5972590"/>
            <a:ext cx="4494861" cy="659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800"/>
            </a:lvl1pPr>
          </a:lstStyle>
          <a:p>
            <a:r>
              <a:t>Amount Local Types</a:t>
            </a:r>
          </a:p>
        </p:txBody>
      </p:sp>
      <p:sp>
        <p:nvSpPr>
          <p:cNvPr id="202" name="Arrow"/>
          <p:cNvSpPr/>
          <p:nvPr/>
        </p:nvSpPr>
        <p:spPr>
          <a:xfrm>
            <a:off x="4575324" y="5782447"/>
            <a:ext cx="1651001" cy="1016001"/>
          </a:xfrm>
          <a:prstGeom prst="rightArrow">
            <a:avLst>
              <a:gd name="adj1" fmla="val 32000"/>
              <a:gd name="adj2" fmla="val 80000"/>
            </a:avLst>
          </a:prstGeom>
          <a:solidFill>
            <a:schemeClr val="accent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03" name="Rounded Rectangle"/>
          <p:cNvSpPr/>
          <p:nvPr/>
        </p:nvSpPr>
        <p:spPr>
          <a:xfrm>
            <a:off x="7030322" y="5958702"/>
            <a:ext cx="3666481" cy="403840"/>
          </a:xfrm>
          <a:prstGeom prst="roundRect">
            <a:avLst>
              <a:gd name="adj" fmla="val 44599"/>
            </a:avLst>
          </a:prstGeom>
          <a:ln w="88900">
            <a:solidFill>
              <a:schemeClr val="accent6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04" name="Amount Locals of First Type"/>
          <p:cNvSpPr txBox="1"/>
          <p:nvPr/>
        </p:nvSpPr>
        <p:spPr>
          <a:xfrm rot="20280000">
            <a:off x="-177714" y="8481022"/>
            <a:ext cx="5014685" cy="573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100"/>
            </a:lvl1pPr>
          </a:lstStyle>
          <a:p>
            <a:r>
              <a:t>Amount Locals of First Type</a:t>
            </a:r>
          </a:p>
        </p:txBody>
      </p:sp>
      <p:sp>
        <p:nvSpPr>
          <p:cNvPr id="205" name="Arrow"/>
          <p:cNvSpPr/>
          <p:nvPr/>
        </p:nvSpPr>
        <p:spPr>
          <a:xfrm rot="20280000">
            <a:off x="4787218" y="6789012"/>
            <a:ext cx="1651001" cy="1016001"/>
          </a:xfrm>
          <a:prstGeom prst="rightArrow">
            <a:avLst>
              <a:gd name="adj1" fmla="val 32000"/>
              <a:gd name="adj2" fmla="val 80000"/>
            </a:avLst>
          </a:prstGeom>
          <a:solidFill>
            <a:schemeClr val="accent4">
              <a:hueOff val="-461056"/>
              <a:satOff val="4338"/>
              <a:lumOff val="-10225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06" name="Rounded Rectangle"/>
          <p:cNvSpPr/>
          <p:nvPr/>
        </p:nvSpPr>
        <p:spPr>
          <a:xfrm>
            <a:off x="7030322" y="6405801"/>
            <a:ext cx="3666481" cy="403840"/>
          </a:xfrm>
          <a:prstGeom prst="roundRect">
            <a:avLst>
              <a:gd name="adj" fmla="val 44599"/>
            </a:avLst>
          </a:prstGeom>
          <a:ln w="88900">
            <a:solidFill>
              <a:schemeClr val="accent4">
                <a:hueOff val="-461056"/>
                <a:satOff val="4338"/>
                <a:lumOff val="-10225"/>
              </a:schemeClr>
            </a:solidFill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07" name="First Type (i32)"/>
          <p:cNvSpPr txBox="1"/>
          <p:nvPr/>
        </p:nvSpPr>
        <p:spPr>
          <a:xfrm rot="19680000">
            <a:off x="2427715" y="9199335"/>
            <a:ext cx="2651697" cy="573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100"/>
            </a:lvl1pPr>
          </a:lstStyle>
          <a:p>
            <a:r>
              <a:t>First Type (i32)</a:t>
            </a:r>
          </a:p>
        </p:txBody>
      </p:sp>
      <p:sp>
        <p:nvSpPr>
          <p:cNvPr id="208" name="Arrow"/>
          <p:cNvSpPr/>
          <p:nvPr/>
        </p:nvSpPr>
        <p:spPr>
          <a:xfrm rot="19680000">
            <a:off x="4982378" y="7756154"/>
            <a:ext cx="1663416" cy="1016001"/>
          </a:xfrm>
          <a:prstGeom prst="rightArrow">
            <a:avLst>
              <a:gd name="adj1" fmla="val 32000"/>
              <a:gd name="adj2" fmla="val 80000"/>
            </a:avLst>
          </a:prstGeom>
          <a:solidFill>
            <a:schemeClr val="accent5">
              <a:hueOff val="-82419"/>
              <a:satOff val="-9513"/>
              <a:lumOff val="-16343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09" name="Rounded Rectangle"/>
          <p:cNvSpPr/>
          <p:nvPr/>
        </p:nvSpPr>
        <p:spPr>
          <a:xfrm>
            <a:off x="7106135" y="7209773"/>
            <a:ext cx="3666481" cy="5961961"/>
          </a:xfrm>
          <a:prstGeom prst="roundRect">
            <a:avLst>
              <a:gd name="adj" fmla="val 4912"/>
            </a:avLst>
          </a:prstGeom>
          <a:ln w="88900">
            <a:solidFill>
              <a:schemeClr val="accent2">
                <a:hueOff val="260011"/>
                <a:satOff val="17755"/>
                <a:lumOff val="-25437"/>
              </a:schemeClr>
            </a:solidFill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10" name="Rounded Rectangle"/>
          <p:cNvSpPr/>
          <p:nvPr/>
        </p:nvSpPr>
        <p:spPr>
          <a:xfrm>
            <a:off x="7106135" y="6802605"/>
            <a:ext cx="3666481" cy="403840"/>
          </a:xfrm>
          <a:prstGeom prst="roundRect">
            <a:avLst>
              <a:gd name="adj" fmla="val 44599"/>
            </a:avLst>
          </a:prstGeom>
          <a:ln w="889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11" name="Arrow"/>
          <p:cNvSpPr/>
          <p:nvPr/>
        </p:nvSpPr>
        <p:spPr>
          <a:xfrm>
            <a:off x="4991497" y="11208582"/>
            <a:ext cx="1663415" cy="1016001"/>
          </a:xfrm>
          <a:prstGeom prst="rightArrow">
            <a:avLst>
              <a:gd name="adj1" fmla="val 32000"/>
              <a:gd name="adj2" fmla="val 80000"/>
            </a:avLst>
          </a:prstGeom>
          <a:solidFill>
            <a:schemeClr val="accent2">
              <a:hueOff val="260011"/>
              <a:satOff val="17755"/>
              <a:lumOff val="-25437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12" name="Instructions"/>
          <p:cNvSpPr txBox="1"/>
          <p:nvPr/>
        </p:nvSpPr>
        <p:spPr>
          <a:xfrm>
            <a:off x="1307953" y="11485734"/>
            <a:ext cx="2634921" cy="659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800"/>
            </a:lvl1pPr>
          </a:lstStyle>
          <a:p>
            <a:r>
              <a:t>Instructions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InterWasm Pipel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InterWasm Pipeline</a:t>
            </a:r>
          </a:p>
        </p:txBody>
      </p:sp>
      <p:sp>
        <p:nvSpPr>
          <p:cNvPr id="215" name="Document"/>
          <p:cNvSpPr/>
          <p:nvPr/>
        </p:nvSpPr>
        <p:spPr>
          <a:xfrm>
            <a:off x="1239969" y="4514128"/>
            <a:ext cx="2369822" cy="3068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0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16" name="Organization"/>
          <p:cNvSpPr/>
          <p:nvPr/>
        </p:nvSpPr>
        <p:spPr>
          <a:xfrm>
            <a:off x="10406496" y="4514128"/>
            <a:ext cx="3571008" cy="3068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974" y="0"/>
                </a:moveTo>
                <a:cubicBezTo>
                  <a:pt x="7706" y="0"/>
                  <a:pt x="7487" y="255"/>
                  <a:pt x="7487" y="566"/>
                </a:cubicBezTo>
                <a:lnTo>
                  <a:pt x="7487" y="3615"/>
                </a:lnTo>
                <a:cubicBezTo>
                  <a:pt x="7487" y="3926"/>
                  <a:pt x="7706" y="4181"/>
                  <a:pt x="7974" y="4181"/>
                </a:cubicBezTo>
                <a:lnTo>
                  <a:pt x="10530" y="4181"/>
                </a:lnTo>
                <a:lnTo>
                  <a:pt x="10530" y="7322"/>
                </a:lnTo>
                <a:lnTo>
                  <a:pt x="3210" y="7322"/>
                </a:lnTo>
                <a:cubicBezTo>
                  <a:pt x="3102" y="7322"/>
                  <a:pt x="3015" y="7425"/>
                  <a:pt x="3015" y="7550"/>
                </a:cubicBezTo>
                <a:lnTo>
                  <a:pt x="3015" y="10705"/>
                </a:lnTo>
                <a:lnTo>
                  <a:pt x="974" y="10705"/>
                </a:lnTo>
                <a:cubicBezTo>
                  <a:pt x="706" y="10705"/>
                  <a:pt x="487" y="10960"/>
                  <a:pt x="487" y="11271"/>
                </a:cubicBezTo>
                <a:lnTo>
                  <a:pt x="487" y="13737"/>
                </a:lnTo>
                <a:cubicBezTo>
                  <a:pt x="487" y="14049"/>
                  <a:pt x="706" y="14304"/>
                  <a:pt x="974" y="14304"/>
                </a:cubicBezTo>
                <a:lnTo>
                  <a:pt x="3015" y="14304"/>
                </a:lnTo>
                <a:lnTo>
                  <a:pt x="3015" y="17244"/>
                </a:lnTo>
                <a:lnTo>
                  <a:pt x="1350" y="17244"/>
                </a:lnTo>
                <a:cubicBezTo>
                  <a:pt x="1243" y="17244"/>
                  <a:pt x="1156" y="17345"/>
                  <a:pt x="1156" y="17470"/>
                </a:cubicBezTo>
                <a:lnTo>
                  <a:pt x="1156" y="19454"/>
                </a:lnTo>
                <a:lnTo>
                  <a:pt x="274" y="19454"/>
                </a:lnTo>
                <a:cubicBezTo>
                  <a:pt x="124" y="19454"/>
                  <a:pt x="0" y="19598"/>
                  <a:pt x="0" y="19773"/>
                </a:cubicBezTo>
                <a:lnTo>
                  <a:pt x="0" y="21281"/>
                </a:lnTo>
                <a:cubicBezTo>
                  <a:pt x="0" y="21456"/>
                  <a:pt x="124" y="21600"/>
                  <a:pt x="274" y="21600"/>
                </a:cubicBezTo>
                <a:lnTo>
                  <a:pt x="2579" y="21600"/>
                </a:lnTo>
                <a:cubicBezTo>
                  <a:pt x="2729" y="21600"/>
                  <a:pt x="2853" y="21456"/>
                  <a:pt x="2853" y="21281"/>
                </a:cubicBezTo>
                <a:lnTo>
                  <a:pt x="2853" y="19773"/>
                </a:lnTo>
                <a:cubicBezTo>
                  <a:pt x="2853" y="19599"/>
                  <a:pt x="2729" y="19454"/>
                  <a:pt x="2579" y="19454"/>
                </a:cubicBezTo>
                <a:lnTo>
                  <a:pt x="1697" y="19454"/>
                </a:lnTo>
                <a:lnTo>
                  <a:pt x="1697" y="18111"/>
                </a:lnTo>
                <a:cubicBezTo>
                  <a:pt x="1697" y="17987"/>
                  <a:pt x="1784" y="17885"/>
                  <a:pt x="1891" y="17885"/>
                </a:cubicBezTo>
                <a:lnTo>
                  <a:pt x="4629" y="17885"/>
                </a:lnTo>
                <a:cubicBezTo>
                  <a:pt x="4736" y="17885"/>
                  <a:pt x="4824" y="17987"/>
                  <a:pt x="4824" y="18111"/>
                </a:cubicBezTo>
                <a:lnTo>
                  <a:pt x="4824" y="19454"/>
                </a:lnTo>
                <a:lnTo>
                  <a:pt x="3941" y="19454"/>
                </a:lnTo>
                <a:cubicBezTo>
                  <a:pt x="3791" y="19454"/>
                  <a:pt x="3668" y="19598"/>
                  <a:pt x="3668" y="19773"/>
                </a:cubicBezTo>
                <a:lnTo>
                  <a:pt x="3668" y="21281"/>
                </a:lnTo>
                <a:cubicBezTo>
                  <a:pt x="3668" y="21456"/>
                  <a:pt x="3791" y="21600"/>
                  <a:pt x="3941" y="21600"/>
                </a:cubicBezTo>
                <a:lnTo>
                  <a:pt x="6247" y="21600"/>
                </a:lnTo>
                <a:cubicBezTo>
                  <a:pt x="6397" y="21600"/>
                  <a:pt x="6519" y="21456"/>
                  <a:pt x="6519" y="21281"/>
                </a:cubicBezTo>
                <a:lnTo>
                  <a:pt x="6519" y="19773"/>
                </a:lnTo>
                <a:cubicBezTo>
                  <a:pt x="6519" y="19599"/>
                  <a:pt x="6397" y="19454"/>
                  <a:pt x="6247" y="19454"/>
                </a:cubicBezTo>
                <a:lnTo>
                  <a:pt x="5365" y="19454"/>
                </a:lnTo>
                <a:lnTo>
                  <a:pt x="5365" y="17470"/>
                </a:lnTo>
                <a:cubicBezTo>
                  <a:pt x="5365" y="17345"/>
                  <a:pt x="5277" y="17244"/>
                  <a:pt x="5170" y="17244"/>
                </a:cubicBezTo>
                <a:lnTo>
                  <a:pt x="3556" y="17244"/>
                </a:lnTo>
                <a:lnTo>
                  <a:pt x="3556" y="14304"/>
                </a:lnTo>
                <a:lnTo>
                  <a:pt x="5549" y="14304"/>
                </a:lnTo>
                <a:cubicBezTo>
                  <a:pt x="5816" y="14304"/>
                  <a:pt x="6035" y="14049"/>
                  <a:pt x="6035" y="13737"/>
                </a:cubicBezTo>
                <a:lnTo>
                  <a:pt x="6035" y="11271"/>
                </a:lnTo>
                <a:cubicBezTo>
                  <a:pt x="6035" y="10960"/>
                  <a:pt x="5816" y="10705"/>
                  <a:pt x="5549" y="10705"/>
                </a:cubicBezTo>
                <a:lnTo>
                  <a:pt x="3556" y="10705"/>
                </a:lnTo>
                <a:lnTo>
                  <a:pt x="3556" y="8179"/>
                </a:lnTo>
                <a:cubicBezTo>
                  <a:pt x="3556" y="8055"/>
                  <a:pt x="3643" y="7951"/>
                  <a:pt x="3750" y="7951"/>
                </a:cubicBezTo>
                <a:lnTo>
                  <a:pt x="10530" y="7951"/>
                </a:lnTo>
                <a:lnTo>
                  <a:pt x="10530" y="10705"/>
                </a:lnTo>
                <a:lnTo>
                  <a:pt x="8513" y="10705"/>
                </a:lnTo>
                <a:cubicBezTo>
                  <a:pt x="8246" y="10705"/>
                  <a:pt x="8027" y="10960"/>
                  <a:pt x="8026" y="11271"/>
                </a:cubicBezTo>
                <a:lnTo>
                  <a:pt x="8026" y="13737"/>
                </a:lnTo>
                <a:cubicBezTo>
                  <a:pt x="8026" y="14049"/>
                  <a:pt x="8246" y="14304"/>
                  <a:pt x="8513" y="14304"/>
                </a:cubicBezTo>
                <a:lnTo>
                  <a:pt x="10530" y="14304"/>
                </a:lnTo>
                <a:lnTo>
                  <a:pt x="10530" y="17244"/>
                </a:lnTo>
                <a:lnTo>
                  <a:pt x="8890" y="17244"/>
                </a:lnTo>
                <a:cubicBezTo>
                  <a:pt x="8783" y="17244"/>
                  <a:pt x="8696" y="17345"/>
                  <a:pt x="8696" y="17470"/>
                </a:cubicBezTo>
                <a:lnTo>
                  <a:pt x="8696" y="19454"/>
                </a:lnTo>
                <a:lnTo>
                  <a:pt x="7790" y="19454"/>
                </a:lnTo>
                <a:cubicBezTo>
                  <a:pt x="7640" y="19454"/>
                  <a:pt x="7516" y="19598"/>
                  <a:pt x="7516" y="19773"/>
                </a:cubicBezTo>
                <a:lnTo>
                  <a:pt x="7516" y="21281"/>
                </a:lnTo>
                <a:cubicBezTo>
                  <a:pt x="7516" y="21456"/>
                  <a:pt x="7640" y="21600"/>
                  <a:pt x="7790" y="21600"/>
                </a:cubicBezTo>
                <a:lnTo>
                  <a:pt x="10095" y="21600"/>
                </a:lnTo>
                <a:cubicBezTo>
                  <a:pt x="10245" y="21600"/>
                  <a:pt x="10367" y="21456"/>
                  <a:pt x="10367" y="21281"/>
                </a:cubicBezTo>
                <a:lnTo>
                  <a:pt x="10367" y="19773"/>
                </a:lnTo>
                <a:cubicBezTo>
                  <a:pt x="10367" y="19599"/>
                  <a:pt x="10245" y="19454"/>
                  <a:pt x="10095" y="19454"/>
                </a:cubicBezTo>
                <a:lnTo>
                  <a:pt x="9237" y="19454"/>
                </a:lnTo>
                <a:lnTo>
                  <a:pt x="9237" y="18111"/>
                </a:lnTo>
                <a:cubicBezTo>
                  <a:pt x="9237" y="17987"/>
                  <a:pt x="9324" y="17885"/>
                  <a:pt x="9431" y="17885"/>
                </a:cubicBezTo>
                <a:lnTo>
                  <a:pt x="12169" y="17885"/>
                </a:lnTo>
                <a:cubicBezTo>
                  <a:pt x="12276" y="17885"/>
                  <a:pt x="12363" y="17987"/>
                  <a:pt x="12363" y="18111"/>
                </a:cubicBezTo>
                <a:lnTo>
                  <a:pt x="12363" y="19454"/>
                </a:lnTo>
                <a:lnTo>
                  <a:pt x="11505" y="19454"/>
                </a:lnTo>
                <a:cubicBezTo>
                  <a:pt x="11355" y="19454"/>
                  <a:pt x="11233" y="19599"/>
                  <a:pt x="11233" y="19773"/>
                </a:cubicBezTo>
                <a:lnTo>
                  <a:pt x="11233" y="21281"/>
                </a:lnTo>
                <a:cubicBezTo>
                  <a:pt x="11233" y="21456"/>
                  <a:pt x="11355" y="21600"/>
                  <a:pt x="11505" y="21600"/>
                </a:cubicBezTo>
                <a:lnTo>
                  <a:pt x="13810" y="21600"/>
                </a:lnTo>
                <a:cubicBezTo>
                  <a:pt x="13960" y="21600"/>
                  <a:pt x="14084" y="21456"/>
                  <a:pt x="14084" y="21281"/>
                </a:cubicBezTo>
                <a:lnTo>
                  <a:pt x="14084" y="19773"/>
                </a:lnTo>
                <a:cubicBezTo>
                  <a:pt x="14084" y="19599"/>
                  <a:pt x="13960" y="19454"/>
                  <a:pt x="13810" y="19454"/>
                </a:cubicBezTo>
                <a:lnTo>
                  <a:pt x="12904" y="19454"/>
                </a:lnTo>
                <a:lnTo>
                  <a:pt x="12904" y="17470"/>
                </a:lnTo>
                <a:cubicBezTo>
                  <a:pt x="12904" y="17345"/>
                  <a:pt x="12817" y="17244"/>
                  <a:pt x="12710" y="17244"/>
                </a:cubicBezTo>
                <a:lnTo>
                  <a:pt x="11070" y="17244"/>
                </a:lnTo>
                <a:lnTo>
                  <a:pt x="11070" y="14304"/>
                </a:lnTo>
                <a:lnTo>
                  <a:pt x="13087" y="14304"/>
                </a:lnTo>
                <a:cubicBezTo>
                  <a:pt x="13354" y="14304"/>
                  <a:pt x="13573" y="14049"/>
                  <a:pt x="13574" y="13737"/>
                </a:cubicBezTo>
                <a:lnTo>
                  <a:pt x="13574" y="11271"/>
                </a:lnTo>
                <a:cubicBezTo>
                  <a:pt x="13574" y="10960"/>
                  <a:pt x="13354" y="10705"/>
                  <a:pt x="13087" y="10705"/>
                </a:cubicBezTo>
                <a:lnTo>
                  <a:pt x="11070" y="10705"/>
                </a:lnTo>
                <a:lnTo>
                  <a:pt x="11070" y="7951"/>
                </a:lnTo>
                <a:lnTo>
                  <a:pt x="17850" y="7951"/>
                </a:lnTo>
                <a:cubicBezTo>
                  <a:pt x="17957" y="7951"/>
                  <a:pt x="18044" y="8055"/>
                  <a:pt x="18044" y="8179"/>
                </a:cubicBezTo>
                <a:lnTo>
                  <a:pt x="18044" y="10705"/>
                </a:lnTo>
                <a:lnTo>
                  <a:pt x="16051" y="10705"/>
                </a:lnTo>
                <a:cubicBezTo>
                  <a:pt x="15784" y="10705"/>
                  <a:pt x="15565" y="10960"/>
                  <a:pt x="15565" y="11271"/>
                </a:cubicBezTo>
                <a:lnTo>
                  <a:pt x="15565" y="13737"/>
                </a:lnTo>
                <a:cubicBezTo>
                  <a:pt x="15565" y="14049"/>
                  <a:pt x="15784" y="14304"/>
                  <a:pt x="16051" y="14304"/>
                </a:cubicBezTo>
                <a:lnTo>
                  <a:pt x="18044" y="14304"/>
                </a:lnTo>
                <a:lnTo>
                  <a:pt x="18044" y="17244"/>
                </a:lnTo>
                <a:lnTo>
                  <a:pt x="16430" y="17244"/>
                </a:lnTo>
                <a:cubicBezTo>
                  <a:pt x="16323" y="17244"/>
                  <a:pt x="16235" y="17345"/>
                  <a:pt x="16235" y="17470"/>
                </a:cubicBezTo>
                <a:lnTo>
                  <a:pt x="16235" y="19454"/>
                </a:lnTo>
                <a:lnTo>
                  <a:pt x="15353" y="19454"/>
                </a:lnTo>
                <a:cubicBezTo>
                  <a:pt x="15203" y="19454"/>
                  <a:pt x="15079" y="19599"/>
                  <a:pt x="15079" y="19773"/>
                </a:cubicBezTo>
                <a:lnTo>
                  <a:pt x="15079" y="21281"/>
                </a:lnTo>
                <a:cubicBezTo>
                  <a:pt x="15079" y="21456"/>
                  <a:pt x="15203" y="21600"/>
                  <a:pt x="15353" y="21600"/>
                </a:cubicBezTo>
                <a:lnTo>
                  <a:pt x="17659" y="21600"/>
                </a:lnTo>
                <a:cubicBezTo>
                  <a:pt x="17809" y="21600"/>
                  <a:pt x="17931" y="21456"/>
                  <a:pt x="17931" y="21281"/>
                </a:cubicBezTo>
                <a:lnTo>
                  <a:pt x="17931" y="19773"/>
                </a:lnTo>
                <a:cubicBezTo>
                  <a:pt x="17931" y="19599"/>
                  <a:pt x="17809" y="19454"/>
                  <a:pt x="17659" y="19454"/>
                </a:cubicBezTo>
                <a:lnTo>
                  <a:pt x="16776" y="19454"/>
                </a:lnTo>
                <a:lnTo>
                  <a:pt x="16776" y="18111"/>
                </a:lnTo>
                <a:cubicBezTo>
                  <a:pt x="16776" y="17987"/>
                  <a:pt x="16864" y="17885"/>
                  <a:pt x="16971" y="17885"/>
                </a:cubicBezTo>
                <a:lnTo>
                  <a:pt x="19709" y="17885"/>
                </a:lnTo>
                <a:cubicBezTo>
                  <a:pt x="19816" y="17885"/>
                  <a:pt x="19903" y="17987"/>
                  <a:pt x="19903" y="18111"/>
                </a:cubicBezTo>
                <a:lnTo>
                  <a:pt x="19903" y="19454"/>
                </a:lnTo>
                <a:lnTo>
                  <a:pt x="19021" y="19454"/>
                </a:lnTo>
                <a:cubicBezTo>
                  <a:pt x="18871" y="19454"/>
                  <a:pt x="18747" y="19599"/>
                  <a:pt x="18747" y="19773"/>
                </a:cubicBezTo>
                <a:lnTo>
                  <a:pt x="18747" y="21281"/>
                </a:lnTo>
                <a:cubicBezTo>
                  <a:pt x="18747" y="21456"/>
                  <a:pt x="18871" y="21600"/>
                  <a:pt x="19021" y="21600"/>
                </a:cubicBezTo>
                <a:lnTo>
                  <a:pt x="21326" y="21600"/>
                </a:lnTo>
                <a:cubicBezTo>
                  <a:pt x="21476" y="21600"/>
                  <a:pt x="21600" y="21456"/>
                  <a:pt x="21600" y="21281"/>
                </a:cubicBezTo>
                <a:lnTo>
                  <a:pt x="21600" y="19773"/>
                </a:lnTo>
                <a:cubicBezTo>
                  <a:pt x="21600" y="19599"/>
                  <a:pt x="21476" y="19454"/>
                  <a:pt x="21326" y="19454"/>
                </a:cubicBezTo>
                <a:lnTo>
                  <a:pt x="20444" y="19454"/>
                </a:lnTo>
                <a:lnTo>
                  <a:pt x="20444" y="17470"/>
                </a:lnTo>
                <a:cubicBezTo>
                  <a:pt x="20444" y="17345"/>
                  <a:pt x="20357" y="17244"/>
                  <a:pt x="20250" y="17244"/>
                </a:cubicBezTo>
                <a:lnTo>
                  <a:pt x="18585" y="17244"/>
                </a:lnTo>
                <a:lnTo>
                  <a:pt x="18585" y="14304"/>
                </a:lnTo>
                <a:lnTo>
                  <a:pt x="20626" y="14304"/>
                </a:lnTo>
                <a:cubicBezTo>
                  <a:pt x="20894" y="14304"/>
                  <a:pt x="21113" y="14049"/>
                  <a:pt x="21113" y="13737"/>
                </a:cubicBezTo>
                <a:lnTo>
                  <a:pt x="21113" y="11271"/>
                </a:lnTo>
                <a:cubicBezTo>
                  <a:pt x="21113" y="10960"/>
                  <a:pt x="20894" y="10705"/>
                  <a:pt x="20626" y="10705"/>
                </a:cubicBezTo>
                <a:lnTo>
                  <a:pt x="18585" y="10705"/>
                </a:lnTo>
                <a:lnTo>
                  <a:pt x="18585" y="7550"/>
                </a:lnTo>
                <a:cubicBezTo>
                  <a:pt x="18585" y="7425"/>
                  <a:pt x="18498" y="7322"/>
                  <a:pt x="18390" y="7322"/>
                </a:cubicBezTo>
                <a:lnTo>
                  <a:pt x="11070" y="7322"/>
                </a:lnTo>
                <a:lnTo>
                  <a:pt x="11070" y="4181"/>
                </a:lnTo>
                <a:lnTo>
                  <a:pt x="13626" y="4181"/>
                </a:lnTo>
                <a:cubicBezTo>
                  <a:pt x="13894" y="4181"/>
                  <a:pt x="14113" y="3926"/>
                  <a:pt x="14113" y="3615"/>
                </a:cubicBezTo>
                <a:lnTo>
                  <a:pt x="14113" y="566"/>
                </a:lnTo>
                <a:cubicBezTo>
                  <a:pt x="14113" y="255"/>
                  <a:pt x="13894" y="0"/>
                  <a:pt x="13626" y="0"/>
                </a:cubicBezTo>
                <a:lnTo>
                  <a:pt x="10800" y="0"/>
                </a:lnTo>
                <a:lnTo>
                  <a:pt x="7974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17" name="Arrow 5"/>
          <p:cNvSpPr/>
          <p:nvPr/>
        </p:nvSpPr>
        <p:spPr>
          <a:xfrm>
            <a:off x="20174811" y="4514128"/>
            <a:ext cx="2992441" cy="30688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713" extrusionOk="0">
                <a:moveTo>
                  <a:pt x="10529" y="0"/>
                </a:moveTo>
                <a:lnTo>
                  <a:pt x="10529" y="2252"/>
                </a:lnTo>
                <a:cubicBezTo>
                  <a:pt x="6127" y="2290"/>
                  <a:pt x="2426" y="5063"/>
                  <a:pt x="1275" y="8842"/>
                </a:cubicBezTo>
                <a:lnTo>
                  <a:pt x="4596" y="10276"/>
                </a:lnTo>
                <a:cubicBezTo>
                  <a:pt x="5122" y="7645"/>
                  <a:pt x="7572" y="5648"/>
                  <a:pt x="10529" y="5607"/>
                </a:cubicBezTo>
                <a:lnTo>
                  <a:pt x="10529" y="7662"/>
                </a:lnTo>
                <a:lnTo>
                  <a:pt x="16091" y="3831"/>
                </a:lnTo>
                <a:lnTo>
                  <a:pt x="10529" y="0"/>
                </a:lnTo>
                <a:close/>
                <a:moveTo>
                  <a:pt x="17685" y="4997"/>
                </a:moveTo>
                <a:lnTo>
                  <a:pt x="14789" y="7046"/>
                </a:lnTo>
                <a:cubicBezTo>
                  <a:pt x="16783" y="8706"/>
                  <a:pt x="17443" y="11456"/>
                  <a:pt x="16235" y="13805"/>
                </a:cubicBezTo>
                <a:lnTo>
                  <a:pt x="14269" y="12888"/>
                </a:lnTo>
                <a:lnTo>
                  <a:pt x="15451" y="19251"/>
                </a:lnTo>
                <a:lnTo>
                  <a:pt x="21600" y="16307"/>
                </a:lnTo>
                <a:lnTo>
                  <a:pt x="19446" y="15303"/>
                </a:lnTo>
                <a:cubicBezTo>
                  <a:pt x="21285" y="11775"/>
                  <a:pt x="20457" y="7668"/>
                  <a:pt x="17685" y="4997"/>
                </a:cubicBezTo>
                <a:close/>
                <a:moveTo>
                  <a:pt x="972" y="10677"/>
                </a:moveTo>
                <a:lnTo>
                  <a:pt x="0" y="17074"/>
                </a:lnTo>
                <a:lnTo>
                  <a:pt x="2120" y="16006"/>
                </a:lnTo>
                <a:cubicBezTo>
                  <a:pt x="4403" y="19887"/>
                  <a:pt x="9288" y="21600"/>
                  <a:pt x="13647" y="20265"/>
                </a:cubicBezTo>
                <a:lnTo>
                  <a:pt x="12998" y="16913"/>
                </a:lnTo>
                <a:cubicBezTo>
                  <a:pt x="10149" y="18031"/>
                  <a:pt x="6810" y="16983"/>
                  <a:pt x="5281" y="14416"/>
                </a:cubicBezTo>
                <a:lnTo>
                  <a:pt x="7215" y="13443"/>
                </a:lnTo>
                <a:lnTo>
                  <a:pt x="972" y="10677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18" name=".wasm File"/>
          <p:cNvSpPr txBox="1"/>
          <p:nvPr/>
        </p:nvSpPr>
        <p:spPr>
          <a:xfrm>
            <a:off x="917186" y="8393440"/>
            <a:ext cx="301538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.wasm File</a:t>
            </a:r>
          </a:p>
        </p:txBody>
      </p:sp>
      <p:sp>
        <p:nvSpPr>
          <p:cNvPr id="219" name="Arrow"/>
          <p:cNvSpPr/>
          <p:nvPr/>
        </p:nvSpPr>
        <p:spPr>
          <a:xfrm>
            <a:off x="5184149" y="5413571"/>
            <a:ext cx="3322054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0" name="WasmReader.java"/>
          <p:cNvSpPr txBox="1"/>
          <p:nvPr/>
        </p:nvSpPr>
        <p:spPr>
          <a:xfrm>
            <a:off x="4832651" y="7111915"/>
            <a:ext cx="3966896" cy="659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800"/>
            </a:lvl1pPr>
          </a:lstStyle>
          <a:p>
            <a:r>
              <a:t>WasmReader.java</a:t>
            </a:r>
          </a:p>
        </p:txBody>
      </p:sp>
      <p:sp>
        <p:nvSpPr>
          <p:cNvPr id="221" name="Internal Java Structure        (FunctionDef)"/>
          <p:cNvSpPr txBox="1"/>
          <p:nvPr/>
        </p:nvSpPr>
        <p:spPr>
          <a:xfrm>
            <a:off x="9058198" y="8031490"/>
            <a:ext cx="6267604" cy="1532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Internal Java Structure</a:t>
            </a:r>
            <a:br/>
            <a:r>
              <a:t>       (FunctionDef)</a:t>
            </a:r>
          </a:p>
        </p:txBody>
      </p:sp>
      <p:sp>
        <p:nvSpPr>
          <p:cNvPr id="222" name="Arrow"/>
          <p:cNvSpPr/>
          <p:nvPr/>
        </p:nvSpPr>
        <p:spPr>
          <a:xfrm>
            <a:off x="15425329" y="5413571"/>
            <a:ext cx="3712323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3" name="Interpreter.java"/>
          <p:cNvSpPr txBox="1"/>
          <p:nvPr/>
        </p:nvSpPr>
        <p:spPr>
          <a:xfrm>
            <a:off x="15628864" y="7111915"/>
            <a:ext cx="3305252" cy="659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800"/>
            </a:lvl1pPr>
          </a:lstStyle>
          <a:p>
            <a:r>
              <a:t>Interpreter.java</a:t>
            </a:r>
          </a:p>
        </p:txBody>
      </p:sp>
      <p:sp>
        <p:nvSpPr>
          <p:cNvPr id="224" name="Execution"/>
          <p:cNvSpPr txBox="1"/>
          <p:nvPr/>
        </p:nvSpPr>
        <p:spPr>
          <a:xfrm>
            <a:off x="20264837" y="8393440"/>
            <a:ext cx="281239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Execution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FunctionDef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FunctionDef</a:t>
            </a:r>
          </a:p>
        </p:txBody>
      </p:sp>
      <p:pic>
        <p:nvPicPr>
          <p:cNvPr id="227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783" y="3447369"/>
            <a:ext cx="13890434" cy="91216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InterWasm - WebAssembly Subse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51205">
              <a:defRPr sz="10192"/>
            </a:lvl1pPr>
          </a:lstStyle>
          <a:p>
            <a:r>
              <a:t>InterWasm - WebAssembly Subset</a:t>
            </a:r>
          </a:p>
        </p:txBody>
      </p:sp>
      <p:sp>
        <p:nvSpPr>
          <p:cNvPr id="230" name="InterWasm supports…"/>
          <p:cNvSpPr txBox="1">
            <a:spLocks noGrp="1"/>
          </p:cNvSpPr>
          <p:nvPr>
            <p:ph type="body" sz="half" idx="1"/>
          </p:nvPr>
        </p:nvSpPr>
        <p:spPr>
          <a:xfrm>
            <a:off x="774700" y="3171924"/>
            <a:ext cx="10855425" cy="7372152"/>
          </a:xfrm>
          <a:prstGeom prst="rect">
            <a:avLst/>
          </a:prstGeom>
        </p:spPr>
        <p:txBody>
          <a:bodyPr anchor="t"/>
          <a:lstStyle/>
          <a:p>
            <a:r>
              <a:t>InterWasm supports</a:t>
            </a:r>
          </a:p>
          <a:p>
            <a:pPr lvl="1"/>
            <a:r>
              <a:t>.wasm files with up to one function</a:t>
            </a:r>
          </a:p>
          <a:p>
            <a:pPr lvl="1"/>
            <a:r>
              <a:t>Locals</a:t>
            </a:r>
          </a:p>
          <a:p>
            <a:pPr lvl="1"/>
            <a:r>
              <a:t>Passing function arguments</a:t>
            </a:r>
          </a:p>
          <a:p>
            <a:pPr lvl="1"/>
            <a:r>
              <a:t>One return value</a:t>
            </a:r>
          </a:p>
        </p:txBody>
      </p:sp>
      <p:sp>
        <p:nvSpPr>
          <p:cNvPr id="231" name="InterWasm does not support…"/>
          <p:cNvSpPr txBox="1"/>
          <p:nvPr/>
        </p:nvSpPr>
        <p:spPr>
          <a:xfrm>
            <a:off x="12320190" y="3171924"/>
            <a:ext cx="12468524" cy="7372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marL="635000" indent="-635000">
              <a:buSzPct val="125000"/>
              <a:buChar char="•"/>
            </a:pPr>
            <a:r>
              <a:t>InterWasm does not support</a:t>
            </a:r>
          </a:p>
          <a:p>
            <a:pPr marL="1270000" lvl="1" indent="-635000">
              <a:buSzPct val="125000"/>
              <a:buChar char="•"/>
            </a:pPr>
            <a:r>
              <a:t>Host-Functions or imports (e.g. printf)</a:t>
            </a:r>
          </a:p>
          <a:p>
            <a:pPr marL="1270000" lvl="1" indent="-635000">
              <a:buSzPct val="125000"/>
              <a:buChar char="•"/>
            </a:pPr>
            <a:r>
              <a:t>Memory (storage of raw bytes)</a:t>
            </a:r>
          </a:p>
        </p:txBody>
      </p:sp>
      <p:sp>
        <p:nvSpPr>
          <p:cNvPr id="232" name="InterWasm only supports a subset of the WebAssembly Instructions (next slide)"/>
          <p:cNvSpPr txBox="1"/>
          <p:nvPr/>
        </p:nvSpPr>
        <p:spPr>
          <a:xfrm>
            <a:off x="1062787" y="9095384"/>
            <a:ext cx="22258427" cy="3754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endParaRPr/>
          </a:p>
          <a:p>
            <a:pPr marL="1270000" lvl="1" indent="-635000">
              <a:buSzPct val="125000"/>
              <a:buChar char="•"/>
            </a:pPr>
            <a:endParaRPr/>
          </a:p>
          <a:p>
            <a:pPr marL="635000" indent="-635000">
              <a:buSzPct val="125000"/>
              <a:buChar char="•"/>
            </a:pPr>
            <a:r>
              <a:t>InterWasm only supports a subset of the WebAssembly Instructions (next slide)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upported WebAssembly Subse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92479">
              <a:defRPr sz="10752"/>
            </a:lvl1pPr>
          </a:lstStyle>
          <a:p>
            <a:r>
              <a:t>Supported WebAssembly Subset</a:t>
            </a:r>
          </a:p>
        </p:txBody>
      </p:sp>
      <p:sp>
        <p:nvSpPr>
          <p:cNvPr id="235" name="Data Types…"/>
          <p:cNvSpPr txBox="1">
            <a:spLocks noGrp="1"/>
          </p:cNvSpPr>
          <p:nvPr>
            <p:ph type="body" sz="half" idx="1"/>
          </p:nvPr>
        </p:nvSpPr>
        <p:spPr>
          <a:xfrm>
            <a:off x="1689100" y="2954564"/>
            <a:ext cx="10278484" cy="9296401"/>
          </a:xfrm>
          <a:prstGeom prst="rect">
            <a:avLst/>
          </a:prstGeom>
        </p:spPr>
        <p:txBody>
          <a:bodyPr/>
          <a:lstStyle/>
          <a:p>
            <a:pPr marL="603250" indent="-603250" defTabSz="784225">
              <a:spcBef>
                <a:spcPts val="5600"/>
              </a:spcBef>
              <a:defRPr sz="4560"/>
            </a:pPr>
            <a:r>
              <a:t>Data Types</a:t>
            </a:r>
          </a:p>
          <a:p>
            <a:pPr marL="1206500" lvl="1" indent="-603250" defTabSz="784225">
              <a:spcBef>
                <a:spcPts val="900"/>
              </a:spcBef>
              <a:defRPr sz="4560"/>
            </a:pPr>
            <a:r>
              <a:t>i32</a:t>
            </a:r>
          </a:p>
          <a:p>
            <a:pPr marL="603250" indent="-603250" defTabSz="784225">
              <a:spcBef>
                <a:spcPts val="5600"/>
              </a:spcBef>
              <a:defRPr sz="4560"/>
            </a:pPr>
            <a:r>
              <a:t>Constant Operations</a:t>
            </a:r>
          </a:p>
          <a:p>
            <a:pPr marL="1206500" lvl="1" indent="-603250" defTabSz="784225">
              <a:spcBef>
                <a:spcPts val="900"/>
              </a:spcBef>
              <a:defRPr sz="4560"/>
            </a:pPr>
            <a:r>
              <a:t>i32.const</a:t>
            </a:r>
          </a:p>
          <a:p>
            <a:pPr marL="603250" indent="-603250" defTabSz="784225">
              <a:spcBef>
                <a:spcPts val="5600"/>
              </a:spcBef>
              <a:defRPr sz="4560"/>
            </a:pPr>
            <a:r>
              <a:t>Arithmetic Operations</a:t>
            </a:r>
          </a:p>
          <a:p>
            <a:pPr marL="1206500" lvl="1" indent="-603250" defTabSz="784225">
              <a:spcBef>
                <a:spcPts val="900"/>
              </a:spcBef>
              <a:defRPr sz="4560"/>
            </a:pPr>
            <a:r>
              <a:t>i32.add</a:t>
            </a:r>
          </a:p>
          <a:p>
            <a:pPr marL="1206500" lvl="1" indent="-603250" defTabSz="784225">
              <a:spcBef>
                <a:spcPts val="900"/>
              </a:spcBef>
              <a:defRPr sz="4560"/>
            </a:pPr>
            <a:r>
              <a:t>i32.divs</a:t>
            </a:r>
          </a:p>
          <a:p>
            <a:pPr marL="1206500" lvl="1" indent="-603250" defTabSz="784225">
              <a:spcBef>
                <a:spcPts val="900"/>
              </a:spcBef>
              <a:defRPr sz="4560"/>
            </a:pPr>
            <a:r>
              <a:t>i32.mul</a:t>
            </a:r>
          </a:p>
          <a:p>
            <a:pPr marL="1206500" lvl="1" indent="-603250" defTabSz="784225">
              <a:spcBef>
                <a:spcPts val="900"/>
              </a:spcBef>
              <a:defRPr sz="4560"/>
            </a:pPr>
            <a:r>
              <a:t>i32.rems</a:t>
            </a:r>
          </a:p>
          <a:p>
            <a:pPr marL="1206500" lvl="1" indent="-603250" defTabSz="784225">
              <a:spcBef>
                <a:spcPts val="900"/>
              </a:spcBef>
              <a:defRPr sz="4560"/>
            </a:pPr>
            <a:r>
              <a:t>i32.sub</a:t>
            </a:r>
          </a:p>
        </p:txBody>
      </p:sp>
      <p:sp>
        <p:nvSpPr>
          <p:cNvPr id="236" name="Locals Operations…"/>
          <p:cNvSpPr txBox="1"/>
          <p:nvPr/>
        </p:nvSpPr>
        <p:spPr>
          <a:xfrm>
            <a:off x="12759567" y="2954564"/>
            <a:ext cx="10278484" cy="929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pPr marL="635000" indent="-635000">
              <a:buSzPct val="125000"/>
              <a:buChar char="•"/>
            </a:pPr>
            <a:r>
              <a:t>Locals Operations</a:t>
            </a:r>
          </a:p>
          <a:p>
            <a:pPr marL="1270000" lvl="1" indent="-635000">
              <a:spcBef>
                <a:spcPts val="1000"/>
              </a:spcBef>
              <a:buSzPct val="125000"/>
              <a:buChar char="•"/>
            </a:pPr>
            <a:r>
              <a:t>local.get</a:t>
            </a:r>
          </a:p>
          <a:p>
            <a:pPr marL="1270000" lvl="1" indent="-635000">
              <a:spcBef>
                <a:spcPts val="1000"/>
              </a:spcBef>
              <a:buSzPct val="125000"/>
              <a:buChar char="•"/>
            </a:pPr>
            <a:r>
              <a:t>local.set</a:t>
            </a:r>
          </a:p>
          <a:p>
            <a:pPr marL="1270000" lvl="1" indent="-635000">
              <a:spcBef>
                <a:spcPts val="1000"/>
              </a:spcBef>
              <a:buSzPct val="125000"/>
              <a:buChar char="•"/>
            </a:pPr>
            <a:r>
              <a:t>local.tee</a:t>
            </a:r>
          </a:p>
          <a:p>
            <a:pPr marL="635000" indent="-635000">
              <a:buSzPct val="125000"/>
              <a:buChar char="•"/>
            </a:pPr>
            <a:r>
              <a:t>Control Flow Operations</a:t>
            </a:r>
          </a:p>
          <a:p>
            <a:pPr marL="1270000" lvl="1" indent="-635000">
              <a:spcBef>
                <a:spcPts val="1000"/>
              </a:spcBef>
              <a:buSzPct val="125000"/>
              <a:buChar char="•"/>
            </a:pPr>
            <a:r>
              <a:t>block</a:t>
            </a:r>
          </a:p>
          <a:p>
            <a:pPr marL="1270000" lvl="1" indent="-635000">
              <a:spcBef>
                <a:spcPts val="1000"/>
              </a:spcBef>
              <a:buSzPct val="125000"/>
              <a:buChar char="•"/>
            </a:pPr>
            <a:r>
              <a:t>loop</a:t>
            </a:r>
          </a:p>
          <a:p>
            <a:pPr marL="1270000" lvl="1" indent="-635000">
              <a:spcBef>
                <a:spcPts val="1000"/>
              </a:spcBef>
              <a:buSzPct val="125000"/>
              <a:buChar char="•"/>
            </a:pPr>
            <a:r>
              <a:t>return</a:t>
            </a:r>
          </a:p>
          <a:p>
            <a:pPr marL="1270000" lvl="1" indent="-635000">
              <a:spcBef>
                <a:spcPts val="1000"/>
              </a:spcBef>
              <a:buSzPct val="125000"/>
              <a:buChar char="•"/>
            </a:pPr>
            <a:r>
              <a:t>if, else end, brif, br</a:t>
            </a:r>
          </a:p>
        </p:txBody>
      </p:sp>
      <p:sp>
        <p:nvSpPr>
          <p:cNvPr id="237" name="i32 Comparison Operations: eq, eqz, ges, gts, les, lts, ne"/>
          <p:cNvSpPr txBox="1"/>
          <p:nvPr/>
        </p:nvSpPr>
        <p:spPr>
          <a:xfrm>
            <a:off x="1545941" y="12563928"/>
            <a:ext cx="1651233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L="635000" indent="-635000">
              <a:buSzPct val="125000"/>
              <a:buChar char="•"/>
            </a:lvl1pPr>
          </a:lstStyle>
          <a:p>
            <a:r>
              <a:t>i32 Comparison Operations: eq, eqz, ges, gts, les, lts, ne  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Benchmark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Benchmarking</a:t>
            </a:r>
          </a:p>
        </p:txBody>
      </p:sp>
      <p:pic>
        <p:nvPicPr>
          <p:cNvPr id="240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7249" y="2698433"/>
            <a:ext cx="9056554" cy="9795864"/>
          </a:xfrm>
          <a:prstGeom prst="rect">
            <a:avLst/>
          </a:prstGeom>
          <a:ln w="12700">
            <a:miter lim="400000"/>
          </a:ln>
        </p:spPr>
      </p:pic>
      <p:sp>
        <p:nvSpPr>
          <p:cNvPr id="241" name="Counting primes algorithm…"/>
          <p:cNvSpPr txBox="1">
            <a:spLocks noGrp="1"/>
          </p:cNvSpPr>
          <p:nvPr>
            <p:ph type="body" sz="half" idx="1"/>
          </p:nvPr>
        </p:nvSpPr>
        <p:spPr>
          <a:xfrm>
            <a:off x="774700" y="3171924"/>
            <a:ext cx="10855425" cy="7372152"/>
          </a:xfrm>
          <a:prstGeom prst="rect">
            <a:avLst/>
          </a:prstGeom>
        </p:spPr>
        <p:txBody>
          <a:bodyPr anchor="t"/>
          <a:lstStyle/>
          <a:p>
            <a:r>
              <a:t>Counting primes algorithm</a:t>
            </a:r>
          </a:p>
          <a:p>
            <a:r>
              <a:t>Performed with inputs</a:t>
            </a:r>
          </a:p>
          <a:p>
            <a:pPr lvl="1"/>
            <a:r>
              <a:t>   10 000</a:t>
            </a:r>
          </a:p>
          <a:p>
            <a:pPr lvl="1"/>
            <a:r>
              <a:t>  100 000</a:t>
            </a:r>
          </a:p>
          <a:p>
            <a:pPr lvl="1"/>
            <a:r>
              <a:t>1 000 000</a:t>
            </a:r>
          </a:p>
        </p:txBody>
      </p:sp>
      <p:sp>
        <p:nvSpPr>
          <p:cNvPr id="242" name="Pseudocode"/>
          <p:cNvSpPr txBox="1"/>
          <p:nvPr/>
        </p:nvSpPr>
        <p:spPr>
          <a:xfrm>
            <a:off x="16825925" y="12730671"/>
            <a:ext cx="11700097" cy="2127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defTabSz="759459">
              <a:spcBef>
                <a:spcPts val="5400"/>
              </a:spcBef>
              <a:defRPr sz="4416"/>
            </a:lvl1pPr>
          </a:lstStyle>
          <a:p>
            <a:r>
              <a:t>Pseudocode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erformance Comparis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Performance Comparison</a:t>
            </a:r>
          </a:p>
        </p:txBody>
      </p:sp>
      <p:sp>
        <p:nvSpPr>
          <p:cNvPr id="245" name="TODO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TODO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523</Words>
  <Application>Microsoft Macintosh PowerPoint</Application>
  <PresentationFormat>Custom</PresentationFormat>
  <Paragraphs>102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Helvetica Neue</vt:lpstr>
      <vt:lpstr>Helvetica Neue Light</vt:lpstr>
      <vt:lpstr>Helvetica Neue Medium</vt:lpstr>
      <vt:lpstr>White</vt:lpstr>
      <vt:lpstr>InterWasm</vt:lpstr>
      <vt:lpstr>WebAssembly</vt:lpstr>
      <vt:lpstr>wat - WebAssembly Text Format</vt:lpstr>
      <vt:lpstr>wat - WebAssembly Text Format</vt:lpstr>
      <vt:lpstr>wat - WebAssembly Text Format</vt:lpstr>
      <vt:lpstr>WebAssembly Basics</vt:lpstr>
      <vt:lpstr>wasm - WebAssembly Bytecode</vt:lpstr>
      <vt:lpstr>wasm- WebAssembly Bytecode</vt:lpstr>
      <vt:lpstr>wasm- WebAssembly Bytecode</vt:lpstr>
      <vt:lpstr>InterWasm Pipeline</vt:lpstr>
      <vt:lpstr>FunctionDef</vt:lpstr>
      <vt:lpstr>InterWasm - WebAssembly Subset</vt:lpstr>
      <vt:lpstr>Supported WebAssembly Subset</vt:lpstr>
      <vt:lpstr>Benchmarking</vt:lpstr>
      <vt:lpstr>Performance Comparison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Pavelescu, Darius</cp:lastModifiedBy>
  <cp:revision>1</cp:revision>
  <dcterms:modified xsi:type="dcterms:W3CDTF">2026-06-16T20:44:30Z</dcterms:modified>
</cp:coreProperties>
</file>